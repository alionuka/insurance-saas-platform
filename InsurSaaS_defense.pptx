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64592" cy="1463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Мультитенантна страхова SaaS-платформа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машинним навчанням для оцінки ризиків та виявлення шахрайства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Виконала: Канцерик Альона Георгіївна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Шумиляк Лілія Михайлівна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0" y="365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InsurSaaS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Світовий ринок InsurTech росте на </a:t>
            </a:r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 щорічно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страхові компанії переходять у цифрові SaaS-платформи.
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виклики галузі: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ризику клієнта вручну → тривалий цикл андеррайтингу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Чорна скриня ML — рішення без пояснень викликають недовіру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шахрайства при виплатах — критичне завдання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Регуляторні вимоги (GDPR) щодо персональних даних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Потреба у мультитенантній архітектурі для масштабування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0" y="1280160"/>
            <a:ext cx="4663440" cy="512064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463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актуально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804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17804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глобального InsurTech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726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937260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компаній планують AI до 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78040" y="3657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$308B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178040" y="4389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обсяг ринку до 2030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72600" y="3657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372600" y="4389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страхових claims — fraud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Мета, предмет та об'єкт дослідження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Метою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проєктування та реалізація мультитенантної страхової SaaS-платформи з інтегрованими ML-моделями для оцінки ризиків та виявлення шахрайства, з механізмами пояснюваності (SHAP) та відповідністю GDPR.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 дослідження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Процеси автоматизації роботи страхових компаній — обробка заявок, обчислення тарифів, обробка виплат, виявлення шахрайства, взаємодія між клієнтами, агентами та адміністраторами компаній.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92608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дослідження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36576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Методи, моделі та програмні засоби побудови multi-tenant SaaS-архітектури, реалізації ML-моделей оцінки ризику та виявлення шахрайства з explainability (SHAP), та забезпечення GDPR-відповідності.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Проаналізувати предметну область страхового бізнесу та існуючі рішення; сформулювати функціональні та нефункціональні вимоги до платформи.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Спроєктувати multi-tenant архітектуру системи та структуру бази даних з ізоляцією даних між тенантами.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Натренувати ML-моделі для оцінки ризику (Gradient Boosting) та виявлення шахрайства (Logistic Regression з TF-IDF), реалізувати SHAP-пояснюваність.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Розробити frontend на Next.js з 4 ролями (Customer / Agent / Company Admin / Platform Admin) та двомовним інтерфейсом (EN/UK).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Реалізувати backend на NestJS з JWT-автентифікацією, role-based access control, інтеграцією Stripe для платежів та R2 для файлів.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Забезпечити GDPR-відповідність — реалізувати Articles 17 (видалення) та 20 (експорт даних), повний audit log.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Розгорнути систему у продакшні (Vercel + Railway + R2 + Sentry), провести функціональне тестування та аудит якості.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 — порівняння з існуючими рішеннями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Існуючі InsurTech-платформи орієнтовані на B2C та один ринок. InsurSaaS — B2B multi-tenant для українських страховиків.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01752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7830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Lemonade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57800" y="17830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7830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783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41080" y="1783080"/>
            <a:ext cx="2606040" cy="457200"/>
          </a:xfrm>
          <a:prstGeom prst="rect">
            <a:avLst/>
          </a:prstGeom>
          <a:solidFill>
            <a:srgbClr val="6366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1783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InsurSaaS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40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22402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240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22402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240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2402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240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enterprise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41080" y="2240280"/>
            <a:ext cx="2606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2240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multi-tenant SaaS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697480"/>
            <a:ext cx="3017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697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26974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697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57800" y="26974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697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26974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697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41080" y="2697480"/>
            <a:ext cx="2606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252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нативно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15468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SHAP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66160" y="31546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154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частково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57800" y="31546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3154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9440" y="31546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3154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41080" y="3154680"/>
            <a:ext cx="2606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3154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Risk + Fraud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611880"/>
            <a:ext cx="3017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566160" y="36118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257800" y="36118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49440" y="36118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41080" y="3611880"/>
            <a:ext cx="2606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32520" y="3611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для кожного прогнозу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406908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069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GDPR-готовність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566160" y="40690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0" y="4069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низька (US)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257800" y="40690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49240" y="4069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низька (US)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949440" y="40690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4069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потребує налаштувань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641080" y="4069080"/>
            <a:ext cx="2606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32520" y="4069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Art 17+20, EU-region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4526280"/>
            <a:ext cx="3017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4526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566160" y="45262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0" y="4526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257800" y="45262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49240" y="4526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949440" y="45262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40880" y="4526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641080" y="4526280"/>
            <a:ext cx="2606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32520" y="45262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logo + color per tenant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8640" y="498348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" y="4983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/ open arch.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566160" y="49834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0" y="4983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257800" y="49834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49240" y="4983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949440" y="49834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40880" y="49834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 proprietary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641080" y="4983480"/>
            <a:ext cx="2606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732520" y="4983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48640" y="5440680"/>
            <a:ext cx="3017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" y="5440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UA-ринок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566160" y="54406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657600" y="5440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257800" y="54406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49240" y="5440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949440" y="5440680"/>
            <a:ext cx="16916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40880" y="54406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641080" y="5440680"/>
            <a:ext cx="2606040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732520" y="5440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EN/UK i18n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Висновок: жоден існуючий аналог не покриває одночасно multi-tenant ізоляцію, SHAP-пояснюваність та EU-GDPR — це формує нішу InsurSaaS.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технологій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9728" cy="2331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280160"/>
            <a:ext cx="5285232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TailwindCSS, Recharts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(e2e тести)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i18n (EN/UK)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109728" cy="2331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6327648" y="1280160"/>
            <a:ext cx="5285232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192024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11, TypeScript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5, PostgreSQL 15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 + bcrypt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SDK (платежі)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(email, EU SMTP)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09728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3886200"/>
            <a:ext cx="5285232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23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3.12)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NumPy, pandas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(explainability)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+ LR+TFIDF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(persisted models)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886200"/>
            <a:ext cx="109728" cy="2331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3886200"/>
            <a:ext cx="5285232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023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452628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(frontend, EU edge)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(backend + DB + ML)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(файли, EU)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(моніторинг, EU)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(dev)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Функціональні можливості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Дев`ять ключових функцій, що формують цінність платформи для страхових компаній та їхніх клієнтів.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архітектура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Ізоляція даних між компаніями на рівні Prisma + JWT-scoping. Кожна компанія — окремий tenant.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9202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514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(5-fold CV). Підбір ставки страхування. ROC-AUC 0.78.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202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2514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TF-IDF на текстах заявок. ROC-AUC 0.91.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Explainable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contributions для кожного прогнозу. Прозорі рішення для клієнта і регулятора.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33375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35204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3484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Безпечні онлайн-платежі, webhooks, refund-flow. EU-region Test Mode.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55280" y="33375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5204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2396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3816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Art 17 (видалення) + Art 20 (експорт даних). Повний audit log.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17320" y="5120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Branding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5715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Кастомне лого та primary color для кожного тенанту. SaaS-готовність до продажу.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51960" y="49377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512064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443484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20640" y="5120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i18n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434840" y="5715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EN/UK переклади. Cookie-based locale + LocaleSwitcher. Дружній до українського ринку.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55280" y="493776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51206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813816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823960" y="5120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 Analytics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138160" y="5715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/ Fraud Drivers, Loss Ratio, Product Performance. Дашборд для company admin.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Діаграма використання — Customer та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91440" cy="4937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(клієнт)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 / автентифікація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каталогу страхових продуктів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 персонального тарифу (ML)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заявки на страхування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SHAP-пояснення оцінки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полісу через Stripe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виплати з документами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персональних рекомендацій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експорт / видалення даних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91440" cy="4937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(страховий агент)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черги заявок з ML-скорами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SHAP feature contributions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заявки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Bulk-операції з заявками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черги виплат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підозрілих claims (fraud)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історії клієнтів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документів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активними полісами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Діаграма використання — Адміністратори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91440" cy="4937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Admin (адмін компанії)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BI-аналітика портфеля у real-time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Drivers (агрегований SHAP)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Fraud Drivers (агрегований SHAP)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+ Loss Ratio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страхових продуктів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активних полісів тенанту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виплат тенанту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Налаштування брендингу (logo + color)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 data isolation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91440" cy="4937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(адмін платформи)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tenant onboarding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KYC-черга нових компаній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Suspend тенантів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користувачами всіх ролей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cross-tenant analytics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methodology dashboard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CV-результати, ROC, Permutation Importance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log (full trail)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search (⌘K)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Діаграма класів — бізнес-модель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Сім ключових сутностей: від компанії та клієнта — до полісу, виплат і платежів. Enum-статуси задають життєвий цикл кожної.</a:t>
            </a:r>
            <a:endParaRPr lang="en-US" sz="1300" dirty="0"/>
          </a:p>
        </p:txBody>
      </p:sp>
      <p:pic>
        <p:nvPicPr>
          <p:cNvPr id="4" name="Image 0" descr="/sessions/zen-festive-dirac/mnt/insurance-saas-platform/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99669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Next.js 16 (Vercel, EU edge)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React Server Components · Tailwind · i18n EN/UK · Playwright · Sentry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514600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2514600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2514600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0" y="2514600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834640"/>
            <a:ext cx="6858000" cy="137160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NestJS 11 (Railway)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Prisma · Stripe webhooks · GDPR (Art 17+20) · Audit log · Throttler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8346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FastAPI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55280" y="3246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(GB) · Fraud (LR+TFIDF)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X-Internal-API-Key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88720" y="4297680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2834640" y="4297680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4297680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4297680"/>
            <a:ext cx="36576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6177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Railway, EU West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46177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4663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5029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logos, EU jurisdiction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46177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4663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SMTP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0" y="5029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Транзакційні емейли, EU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сервіси у EU-регіонах — відповідність GDPR data residency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Машинне навчання — диференціатор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GridSearch vs Logistic Regression і Random Forest. Top feature: credit score, age, prior claims.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+ TF-IDF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+ текстові ознаки з опису claim. Ablation study довів цінність TF-IDF блоку.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17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(TF-IDF + cosine)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148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match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Підбір продуктів за профілем користувача. Безперервне покращення через user feedback.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34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Explainable AI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чорна скриня.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кожного прогнозу зберігаємо feature contributions у БД та показуємо клієнту, агенту і компанії. Це закриває регуляторне питання "чому модель прийняла таке рішення" та підвищує довіру до AI.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та якість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проводилось на трьох рівнях:
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(Jest)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тестів покривають AuthService (bcrypt, JWT, refresh rotation) та PaymentsService.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70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e2e (Jest + Supertest)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72+ тестів — RBAC, applications, claims, policies, payments, products. CI gating на кожен push.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85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e2e (Playwright)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spec-ів — auth flow, customer apply, profile, agent workflow, admin ML dashboard.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99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6177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audit (Lighthouse)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9377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Performance 99 / Accessibility 96 / Best Practices 96 / SEO 100.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13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5321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(Sentry)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8521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Зловив реальний прод-баг Prisma transaction timeout — задіагностовано і виправлено.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1280160"/>
            <a:ext cx="4297680" cy="5029200"/>
          </a:xfrm>
          <a:prstGeom prst="roundRect">
            <a:avLst>
              <a:gd name="adj" fmla="val 2553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417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Mobile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insurance-saas-platform.vercel.app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2331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745236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55480" y="2331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955548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5236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7452360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5548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9555480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— ключові інтерфейси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скрін з застосунку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+ 3 ролі + features + продукти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69164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скрін з застосунку 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4840" y="3337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портфелю + ML-рекомендації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132588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69164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скрін з застосунку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3337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contributions на app detail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9768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скрін з застосунку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Drivers + Top Fraud Drivers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39319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429768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скрін з застосунку 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Self-onboarding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5943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+ Pending Verification flow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39319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429768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скрін з застосунку 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3816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settings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8160" y="5943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primary color per tenant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Замініть placeholder-картинки на власні скріншоти з insurance-saas-platform.vercel.app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Проаналізовано предметну область страхового бізнесу та сформульовано вимоги до multi-tenant SaaS-платформи з інтегрованим ML.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Спроєктовано та реалізовано архітектуру з ізоляцією тенантів — COMPANY_ADMIN бачить лише дані своєї компанії, що покрито e2e тестами.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Натреновано три ML-моделі (Gradient Boosting, LR+TF-IDF, content-based) з SHAP-пояснюваністю кожного прогнозу — диференціатор від існуючих рішень.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Розроблено frontend на Next.js 16 з 4 ролями, двомовним інтерфейсом (EN/UK) та per-tenant branding (white-label SaaS).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Реалізовано backend на NestJS 11 з JWT-rotation, Stripe-інтеграцією, R2 file storage та повним audit log.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Забезпечено GDPR-відповідність (Art 17 + 20), EU-data residency на всіх рівнях (Vercel, Railway, R2, Sentry).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Розгорнуто у проді: Lighthouse 99/96/96/100, Sentry monitoring підтвердив роботу — зловив реальний баг, який було виправлено.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 відповісти на ваші запитання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insurance-saas-platform.vercel.app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61520" cy="36576"/>
          </a:xfrm>
          <a:prstGeom prst="rect">
            <a:avLst/>
          </a:prstGeom>
          <a:solidFill>
            <a:srgbClr val="6366F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InsurSaaS — bachelor thesis defense</dc:title>
  <dc:subject>PptxGenJS Presentation</dc:subject>
  <dc:creator>Aliona Kanterik</dc:creator>
  <cp:lastModifiedBy>Aliona Kanterik</cp:lastModifiedBy>
  <cp:revision>1</cp:revision>
  <dcterms:created xsi:type="dcterms:W3CDTF">2026-05-20T06:30:00Z</dcterms:created>
  <dcterms:modified xsi:type="dcterms:W3CDTF">2026-05-20T06:30:00Z</dcterms:modified>
</cp:coreProperties>
</file>